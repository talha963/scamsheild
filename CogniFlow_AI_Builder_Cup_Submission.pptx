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00"/>
              </a:spcAft>
              <a:buNone/>
              <a:defRPr sz="2400" b="1">
                <a:solidFill>
                  <a:srgbClr val="FFFFFF"/>
                </a:solidFill>
                <a:latin typeface="Google Sans"/>
              </a:defRPr>
            </a:pPr>
            <a: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spcAft>
                <a:spcPts val="600"/>
              </a:spcAft>
              <a:defRPr sz="1700"/>
            </a:pPr>
            <a:r>
              <a:rPr b="1">
                <a:solidFill>
                  <a:srgbClr val="38BDF8"/>
                </a:solidFill>
              </a:rPr>
              <a:t>Team Name: </a:t>
            </a:r>
            <a:r>
              <a:rPr b="1">
                <a:solidFill>
                  <a:srgbClr val="FFFFFF"/>
                </a:solidFill>
              </a:rPr>
              <a:t>CogniFlow</a:t>
            </a:r>
          </a:p>
          <a:p>
            <a:pPr>
              <a:spcAft>
                <a:spcPts val="600"/>
              </a:spcAft>
              <a:defRPr sz="1700"/>
            </a:pPr>
            <a:r>
              <a:rPr b="1">
                <a:solidFill>
                  <a:srgbClr val="38BDF8"/>
                </a:solidFill>
              </a:rPr>
              <a:t>Team Leader: </a:t>
            </a:r>
            <a:r>
              <a:rPr b="1">
                <a:solidFill>
                  <a:srgbClr val="FFFFFF"/>
                </a:solidFill>
              </a:rPr>
              <a:t>Talha Habib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</a:rPr>
              <a:t>Problem Statement: </a:t>
            </a:r>
            <a:r>
              <a:rPr>
                <a:solidFill>
                  <a:srgbClr val="FFFFFF"/>
                </a:solidFill>
              </a:rPr>
              <a:t>Autonomous Voice Social Engineering Defense &amp; Graduated Circuit-Breaker System (BFSI Track)</a:t>
            </a:r>
          </a:p>
          <a:p>
            <a:pPr>
              <a:defRPr sz="1400"/>
            </a:pPr>
            <a:r>
              <a:rPr b="1">
                <a:solidFill>
                  <a:srgbClr val="34D399"/>
                </a:solidFill>
              </a:rPr>
              <a:t>Proposed Solution: </a:t>
            </a:r>
            <a:r>
              <a:rPr b="1">
                <a:solidFill>
                  <a:srgbClr val="FFFFFF"/>
                </a:solidFill>
              </a:rPr>
              <a:t>ScamShield Live — Cloud-Native Voice Fraud Protection with Google Gemini &amp; 15-Minute Safety Escrow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Real-time AI voice social engineering defense stopping coerced fund theft before money moves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6576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1417320"/>
            <a:ext cx="246888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7171"/>
                </a:solidFill>
              </a:defRPr>
            </a:pPr>
            <a:r>
              <a:t>🚨 The Problem (Vishing)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The #1 Fraud Vector: </a:t>
            </a:r>
            <a:r>
              <a:rPr sz="1000">
                <a:solidFill>
                  <a:srgbClr val="CBD5E1"/>
                </a:solidFill>
              </a:rPr>
              <a:t>Voice social engineering accounts for billions in unrecoverable losses across JAPAC banks.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High-Pressure Coercion: </a:t>
            </a:r>
            <a:r>
              <a:rPr sz="1000">
                <a:solidFill>
                  <a:srgbClr val="CBD5E1"/>
                </a:solidFill>
              </a:rPr>
              <a:t>Impersonators pose as State Bank, police, or kidnapped children, manufacturing panic.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Victim Vulnerability: </a:t>
            </a:r>
            <a:r>
              <a:rPr sz="1000">
                <a:solidFill>
                  <a:srgbClr val="CBD5E1"/>
                </a:solidFill>
              </a:rPr>
              <a:t>Senior citizens &amp; everyday savers are manipulated into reading OTPs or sending instant transfers.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87171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Caller-ID Blindness: </a:t>
            </a:r>
            <a:r>
              <a:rPr sz="1000">
                <a:solidFill>
                  <a:srgbClr val="CBD5E1"/>
                </a:solidFill>
              </a:rPr>
              <a:t>Static blacklists fail against spoofed numbers and new burner SIMs.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24612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37560" y="1417320"/>
            <a:ext cx="246888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38BDF8"/>
                </a:solidFill>
              </a:defRPr>
            </a:pPr>
            <a:r>
              <a:t>🛡️ The Solution (ScamShield)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Real-Time In-Call AI: </a:t>
            </a:r>
            <a:r>
              <a:rPr sz="1000">
                <a:solidFill>
                  <a:srgbClr val="CBD5E1"/>
                </a:solidFill>
              </a:rPr>
              <a:t>Listens quietly in background without recording audio; analyzes phonetic &amp; intent trajectories.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Powered by Gemini: </a:t>
            </a:r>
            <a:r>
              <a:rPr sz="1000">
                <a:solidFill>
                  <a:srgbClr val="CBD5E1"/>
                </a:solidFill>
              </a:rPr>
              <a:t>Google Gemini 3.8 Flash detects pressure tactics and secret credential harvesting in &lt;1.4s.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Multilingual Defense: </a:t>
            </a:r>
            <a:r>
              <a:rPr sz="1000">
                <a:solidFill>
                  <a:srgbClr val="CBD5E1"/>
                </a:solidFill>
              </a:rPr>
              <a:t>Speaks calm warnings in Urdu, Punjabi, and English ('Bank never asks for OTP. Hang up!').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Zero Privacy Risk: </a:t>
            </a:r>
            <a:r>
              <a:rPr sz="1000">
                <a:solidFill>
                  <a:srgbClr val="CBD5E1"/>
                </a:solidFill>
              </a:rPr>
              <a:t>Operates via differential privacy and privacy vault tokenization.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2648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17920" y="1417320"/>
            <a:ext cx="246888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34D399"/>
                </a:solidFill>
              </a:defRPr>
            </a:pPr>
            <a:r>
              <a:t>⚡ The Circuit-Breaker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15-Min Safety Escrow: </a:t>
            </a:r>
            <a:r>
              <a:rPr sz="1000">
                <a:solidFill>
                  <a:srgbClr val="CBD5E1"/>
                </a:solidFill>
              </a:rPr>
              <a:t>Intervenes before money leaves. Freezes high-risk transfers during active scam calls.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Guardian Circle: </a:t>
            </a:r>
            <a:r>
              <a:rPr sz="1000">
                <a:solidFill>
                  <a:srgbClr val="CBD5E1"/>
                </a:solidFill>
              </a:rPr>
              <a:t>Automatically alerts adult children on WhatsApp/SMS with 1-tap approval or reversal link.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100% Funds Refund: </a:t>
            </a:r>
            <a:r>
              <a:rPr sz="1000">
                <a:solidFill>
                  <a:srgbClr val="CBD5E1"/>
                </a:solidFill>
              </a:rPr>
              <a:t>Victim or family cancels transfer during cooling-off window; scammer receives Rs. 0.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Forensic Dispute Dossier: </a:t>
            </a:r>
            <a:r>
              <a:rPr sz="1000">
                <a:solidFill>
                  <a:srgbClr val="CBD5E1"/>
                </a:solidFill>
              </a:rPr>
              <a:t>Auto-compiles PDF incident evidence for banking regulators &amp; FIA Cybercrime filing.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Opportunities &amp; Market Differentiation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Why existing solutions fail and how ScamShield Live creates an unassailable defensive moat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1325880"/>
            <a:ext cx="406908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1417320"/>
            <a:ext cx="379476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How Different From Existing Solutions?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Static Blacklists Fail: </a:t>
            </a:r>
            <a:r>
              <a:rPr sz="1000">
                <a:solidFill>
                  <a:srgbClr val="CBD5E1"/>
                </a:solidFill>
              </a:rPr>
              <a:t>Truecaller and Whoscall rely on reported numbers. Scammers use burner SIMs and caller-ID spoofing that appear 'Clean'.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In-Call Intent Evaluation: </a:t>
            </a:r>
            <a:r>
              <a:rPr sz="1000">
                <a:solidFill>
                  <a:srgbClr val="CBD5E1"/>
                </a:solidFill>
              </a:rPr>
              <a:t>ScamShield evaluates the *conversation itself*, identifying urgency keywords and credential requests regardless of the phone number.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38BDF8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Correlated App Telemetry: </a:t>
            </a:r>
            <a:r>
              <a:rPr sz="1000">
                <a:solidFill>
                  <a:srgbClr val="CBD5E1"/>
                </a:solidFill>
              </a:rPr>
              <a:t>Cross-references live banking app status (e.g. mobile bank open + new payee + active unknown call = Tier 3 Hard Stop).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300">
                <a:solidFill>
                  <a:srgbClr val="34D399"/>
                </a:solidFill>
              </a:defRPr>
            </a:pPr>
            <a:r>
              <a:t>How Does It Solve The Problem?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Graduated Action Ladder: </a:t>
            </a:r>
            <a:r>
              <a:rPr sz="1000">
                <a:solidFill>
                  <a:srgbClr val="CBD5E1"/>
                </a:solidFill>
              </a:rPr>
              <a:t>Tier 0 (Monitor) → Tier 1 (Banner) → Tier 2 (Urdu Spoken Warning) → Tier 3 (15-Min Escrow Lock &amp; Cut Call).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9160" y="1325880"/>
            <a:ext cx="406908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46320" y="1417320"/>
            <a:ext cx="3794760" cy="32918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BBF24"/>
                </a:solidFill>
              </a:defRPr>
            </a:pPr>
            <a:r>
              <a:t>Unique Selling Propositions (USP)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BBF24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1. Autonomous Circuit-Breaker: </a:t>
            </a:r>
            <a:r>
              <a:rPr sz="1000">
                <a:solidFill>
                  <a:srgbClr val="CBD5E1"/>
                </a:solidFill>
              </a:rPr>
              <a:t>The only system that directly halts payment clearing before funds leave the victim's account.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BBF24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2. 1-Tap Guardian Circle: </a:t>
            </a:r>
            <a:r>
              <a:rPr sz="1000">
                <a:solidFill>
                  <a:srgbClr val="CBD5E1"/>
                </a:solidFill>
              </a:rPr>
              <a:t>Family delegation via WhatsApp &amp; SMS allows adult children to save elderly parents from coercion with one tap.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BBF24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3. Scam Lens Forensic Vision: </a:t>
            </a:r>
            <a:r>
              <a:rPr sz="1000">
                <a:solidFill>
                  <a:srgbClr val="CBD5E1"/>
                </a:solidFill>
              </a:rPr>
              <a:t>Multimodal Gemini vision engine scans suspicious SMS, slips, and QR codes to detect brand spoofing &amp; tampering.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BBF24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4. Cultural &amp; Dialect Adaptation: </a:t>
            </a:r>
            <a:r>
              <a:rPr sz="1000">
                <a:solidFill>
                  <a:srgbClr val="CBD5E1"/>
                </a:solidFill>
              </a:rPr>
              <a:t>Optimized specifically for South Asian / JAPAC scam patterns (BISP fraud, State Bank impersonation, lottery traps).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BBF24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5. Regulatory Dispute Ready: </a:t>
            </a:r>
            <a:r>
              <a:rPr sz="1000">
                <a:solidFill>
                  <a:srgbClr val="CBD5E1"/>
                </a:solidFill>
              </a:rPr>
              <a:t>Generates compliant evidence dossiers compatible with State Bank of Pakistan &amp; FIA Cybercrime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List of Features Offered by ScamShield Live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Comprehensive defense ecosystem combining on-device vigilance, AI vision, and banking circuit-breakers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132588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1417320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Live Call Guardian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Stealth background listener monitoring incoming calls. Triggers secret haptic pulses &amp; cut-call alert.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26280" y="132588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0" y="1417320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34D399"/>
                </a:solidFill>
              </a:defRPr>
            </a:pPr>
            <a:r>
              <a:t>Smart Banking Escrow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15-minute graduated cooling-off hold on outgoing funds during scam calls. 100% balance refund.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65760" y="251460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2606040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BBF24"/>
                </a:solidFill>
              </a:defRPr>
            </a:pPr>
            <a:r>
              <a:t>Scam Lens (Visual OCR)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Gemini multimodal vision analyzing uploaded SMS alerts, doctored receipts, and QR phishing codes.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26280" y="251460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663440" y="2606040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C084FC"/>
                </a:solidFill>
              </a:defRPr>
            </a:pPr>
            <a:r>
              <a:t>Guardian Circle (n8n)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Automated family safety circle sending WhatsApp &amp; SMS alerts for 1-tap transfer authorization.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370332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02920" y="3794759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F87171"/>
                </a:solidFill>
              </a:defRPr>
            </a:pPr>
            <a:r>
              <a:t>Scam Gym Arena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Interactive citizen resistance simulator. Practice saying NO to scammers across 3 difficulty tiers.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26280" y="3703320"/>
            <a:ext cx="4069080" cy="10972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63440" y="3794759"/>
            <a:ext cx="3794760" cy="9144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Scam Radar &amp; Dossier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Crowd-sourced caller reputation checker (F10), Pinecone vector clusters &amp; 1-click legal dispute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Process Flow &amp; Real-Time Decision Pipeline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End-to-end telemetry from incoming call to autonomous circuit-breaker intervention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760" y="1371600"/>
            <a:ext cx="1600200" cy="2286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" y="1463040"/>
            <a:ext cx="1463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38BDF8"/>
                </a:solidFill>
              </a:defRPr>
            </a:pPr>
            <a:r>
              <a:t>1. Incoming Call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Unknown number calls phone.</a:t>
            </a:r>
            <a:br/>
            <a:r>
              <a:t>Stealth screening service activates in background.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057400" y="1371600"/>
            <a:ext cx="1600200" cy="2286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30552" y="1463040"/>
            <a:ext cx="1463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C084FC"/>
                </a:solidFill>
              </a:defRPr>
            </a:pPr>
            <a:r>
              <a:t>2. Real-Time Speech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Phonetic audio stream parsed via Google Gemini 3.8 Flash.</a:t>
            </a:r>
            <a:br/>
            <a:r>
              <a:t>No audio recorded.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749039" y="1371600"/>
            <a:ext cx="1600200" cy="2286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22191" y="1463040"/>
            <a:ext cx="1463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FBBF24"/>
                </a:solidFill>
              </a:defRPr>
            </a:pPr>
            <a:r>
              <a:t>3. Risk Fusion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Calculates score (0-100):</a:t>
            </a:r>
            <a:br/>
            <a:r>
              <a:t>• Urgency keywords</a:t>
            </a:r>
            <a:br/>
            <a:r>
              <a:t>• Authority claim</a:t>
            </a:r>
            <a:br/>
            <a:r>
              <a:t>• Banking app open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40680" y="1371600"/>
            <a:ext cx="1600200" cy="2286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13832" y="1463040"/>
            <a:ext cx="1463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F87171"/>
                </a:solidFill>
              </a:defRPr>
            </a:pPr>
            <a:r>
              <a:t>4. Circuit-Breaker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Score ≥ 85 (Tier 3):</a:t>
            </a:r>
            <a:br/>
            <a:r>
              <a:t>• 15-Min Escrow Lock</a:t>
            </a:r>
            <a:br/>
            <a:r>
              <a:t>• Urgent Cut-Call Alert</a:t>
            </a:r>
            <a:br/>
            <a:r>
              <a:t>• Spoken Urdu warning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132320" y="1371600"/>
            <a:ext cx="1600200" cy="2286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05472" y="1463040"/>
            <a:ext cx="1463040" cy="21031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34D399"/>
                </a:solidFill>
              </a:defRPr>
            </a:pPr>
            <a:r>
              <a:t>5. Guardian Resolve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Family gets WhatsApp ping.</a:t>
            </a:r>
            <a:br/>
            <a:r>
              <a:t>1-Tap button:</a:t>
            </a:r>
            <a:br/>
            <a:r>
              <a:t>• Reverse (100% Refund)</a:t>
            </a:r>
            <a:br/>
            <a:r>
              <a:t>• Or Approve transfer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5760" y="3794760"/>
            <a:ext cx="8412480" cy="100584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3886200"/>
            <a:ext cx="8138160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FFFFFF"/>
                </a:solidFill>
              </a:defRPr>
            </a:pPr>
            <a:r>
              <a:t>Primary Use Case: Fake Bank Security Officer Impersonation (Uncle Tariq Scenario)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87171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Attack: </a:t>
            </a:r>
            <a:r>
              <a:rPr sz="950">
                <a:solidFill>
                  <a:srgbClr val="CBD5E1"/>
                </a:solidFill>
              </a:rPr>
              <a:t>Caller claims 'State Bank security: Account being frozen in 10 minutes unless you share 6-digit OTP code.'</a:t>
            </a:r>
          </a:p>
          <a:p>
            <a:pPr>
              <a:spcAft>
                <a:spcPts val="0"/>
              </a:spcAft>
            </a:pPr>
            <a:r>
              <a:rPr b="1" sz="950">
                <a:solidFill>
                  <a:srgbClr val="34D399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Autonomous Defense: </a:t>
            </a:r>
            <a:r>
              <a:rPr sz="950">
                <a:solidFill>
                  <a:srgbClr val="CBD5E1"/>
                </a:solidFill>
              </a:rPr>
              <a:t>ScamShield detects panic words + OTP extraction → Freezes Rs. 85,000 transfer in 15-min escrow → Son gets WhatsApp reversal link → Rs. 85,000 saved.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Wireframes &amp; Mobile Interface Design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Frictionless UX designed specifically for non-technical seniors and everyday bank users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1325880"/>
            <a:ext cx="2651760" cy="24688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5488" y="1417320"/>
            <a:ext cx="242316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1. Stealth Live Guardian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Floating diagnostic pill (Shield Active)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Hidden haptic vibration alerts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In-app opposition voice simulation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Prominent red 'CUT THE CALL' dialog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246120" y="1325880"/>
            <a:ext cx="2651760" cy="24688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55848" y="1417320"/>
            <a:ext cx="242316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34D399"/>
                </a:solidFill>
              </a:defRPr>
            </a:pPr>
            <a:r>
              <a:t>2. 15-Minute Safety Escrow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Live 15:00 countdown timer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Prominent 'Reverse &amp; Refund' CTA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Real-time poller syncing with Gmail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WhatsApp alert notification status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26480" y="1325880"/>
            <a:ext cx="2651760" cy="24688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36208" y="1417320"/>
            <a:ext cx="2423160" cy="2286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FBBF24"/>
                </a:solidFill>
              </a:defRPr>
            </a:pPr>
            <a:r>
              <a:t>3. Scam Lens Forensic OCR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Native camera &amp; gallery image picker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5 instant one-click demo presets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Forensic indicators (brand spoofing)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Impossible date &amp; phishing URL flags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65760" y="3886200"/>
            <a:ext cx="8412480" cy="9144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2920" y="3977639"/>
            <a:ext cx="8138160" cy="7315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Key UX Principles: Zero Cognitive Overhead for Elders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38BDF8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No Complex Settings: </a:t>
            </a:r>
            <a:r>
              <a:rPr sz="950">
                <a:solidFill>
                  <a:srgbClr val="CBD5E1"/>
                </a:solidFill>
              </a:rPr>
              <a:t>Works automatically on call arrival. Seniors do not need to configure rules or learn tech.</a:t>
            </a:r>
          </a:p>
          <a:p>
            <a:pPr>
              <a:spcAft>
                <a:spcPts val="0"/>
              </a:spcAft>
            </a:pPr>
            <a:r>
              <a:rPr b="1" sz="950">
                <a:solidFill>
                  <a:srgbClr val="34D399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High-Contrast Theme: </a:t>
            </a:r>
            <a:r>
              <a:rPr sz="950">
                <a:solidFill>
                  <a:srgbClr val="CBD5E1"/>
                </a:solidFill>
              </a:rPr>
              <a:t>WCAG 2.1 AAA accessible contrast in both light and dark mode for low-vision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Cloud-Native Architecture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Distributed multi-tier microservices leveraging Google Cloud Run, Vertex AI, and BigQuery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65760" y="1325880"/>
            <a:ext cx="406908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2920" y="1417320"/>
            <a:ext cx="379476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1. Client Surfaces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Native Android App (Kotlin, WebViewAssetLoader, CallScreeningService)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React 19 + Vite Progressive Web App (PWA)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Web Audio ringtone &amp; speech synthesizer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26280" y="1325880"/>
            <a:ext cx="425196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63440" y="1417320"/>
            <a:ext cx="397764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C084FC"/>
                </a:solidFill>
              </a:defRPr>
            </a:pPr>
            <a:r>
              <a:t>2. Google Cloud AI Engine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Google Gemini 3.8 Flash (Live semantic threat evaluation in &lt;1.4s)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Google Gemini Pro (Forensic dispute attribution)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Gemini Multimodal Vision API (Scam Lens OCR)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65760" y="2971800"/>
            <a:ext cx="4069080" cy="18288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02920" y="3063240"/>
            <a:ext cx="3794760" cy="16459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4D399"/>
                </a:solidFill>
              </a:defRPr>
            </a:pPr>
            <a:r>
              <a:t>3. Backend &amp; Cloud Run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Google Cloud Run serverless container orchestration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FastAPI async microservices + WebSockets audio streaming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Nginx reverse proxy with zero-trust CORS isolation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526280" y="2971800"/>
            <a:ext cx="4251960" cy="18288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663440" y="3063240"/>
            <a:ext cx="3977640" cy="16459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FBBF24"/>
                </a:solidFill>
              </a:defRPr>
            </a:pPr>
            <a:r>
              <a:t>4. Data &amp; Family Automation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Google BigQuery: Telemetry, audit trail &amp; crowd reputation (F10)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Pinecone Vector DB: Semantic fraud script clustering (F11)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n8n Workflow Engine: Multi-channel WhatsApp &amp; Twilio SMS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Technologies &amp; Google Cloud Services Used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Production-grade tech stack built for ultra-low latency, bank-grade reliability, and high security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6576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5488" y="1417320"/>
            <a:ext cx="242316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C084FC"/>
                </a:solidFill>
              </a:defRPr>
            </a:pPr>
            <a:r>
              <a:t>Google Cloud &amp; AI Core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Google Gemini 3.8 Flash
</a:t>
            </a:r>
            <a:r>
              <a:rPr sz="850">
                <a:solidFill>
                  <a:srgbClr val="94A3B8"/>
                </a:solidFill>
              </a:rPr>
              <a:t>Streaming phoneme &amp; intent reasoning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Google Gemini Pro
</a:t>
            </a:r>
            <a:r>
              <a:rPr sz="850">
                <a:solidFill>
                  <a:srgbClr val="94A3B8"/>
                </a:solidFill>
              </a:rPr>
              <a:t>Deep reasoning &amp; forensic case formulation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Gemini Multimodal Vision
</a:t>
            </a:r>
            <a:r>
              <a:rPr sz="850">
                <a:solidFill>
                  <a:srgbClr val="94A3B8"/>
                </a:solidFill>
              </a:rPr>
              <a:t>OCR &amp; image tampering analysis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Google Cloud Run
</a:t>
            </a:r>
            <a:r>
              <a:rPr sz="850">
                <a:solidFill>
                  <a:srgbClr val="94A3B8"/>
                </a:solidFill>
              </a:rPr>
              <a:t>Serverless container microservices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Google BigQuery
</a:t>
            </a:r>
            <a:r>
              <a:rPr sz="850">
                <a:solidFill>
                  <a:srgbClr val="94A3B8"/>
                </a:solidFill>
              </a:rPr>
              <a:t>Telemetry &amp; campaign threat intelligence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Google Secret Manager
</a:t>
            </a:r>
            <a:r>
              <a:rPr sz="850">
                <a:solidFill>
                  <a:srgbClr val="94A3B8"/>
                </a:solidFill>
              </a:rPr>
              <a:t>Zero-trust API key injection
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4612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55848" y="1417320"/>
            <a:ext cx="242316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8BDF8"/>
                </a:solidFill>
              </a:defRPr>
            </a:pPr>
            <a:r>
              <a:t>Mobile &amp; Frontend Stack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Android SDK (Kotlin)
</a:t>
            </a:r>
            <a:r>
              <a:rPr sz="850">
                <a:solidFill>
                  <a:srgbClr val="94A3B8"/>
                </a:solidFill>
              </a:rPr>
              <a:t>Background telephony &amp; call screening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WebViewAssetLoader
</a:t>
            </a:r>
            <a:r>
              <a:rPr sz="850">
                <a:solidFill>
                  <a:srgbClr val="94A3B8"/>
                </a:solidFill>
              </a:rPr>
              <a:t>Zero-CORS offline bundled web app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React 19 &amp; TypeScript
</a:t>
            </a:r>
            <a:r>
              <a:rPr sz="850">
                <a:solidFill>
                  <a:srgbClr val="94A3B8"/>
                </a:solidFill>
              </a:rPr>
              <a:t>Component architecture &amp; state machine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Tailwind CSS
</a:t>
            </a:r>
            <a:r>
              <a:rPr sz="850">
                <a:solidFill>
                  <a:srgbClr val="94A3B8"/>
                </a:solidFill>
              </a:rPr>
              <a:t>High-contrast WCAG 2.1 dark/light theme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Web Audio API
</a:t>
            </a:r>
            <a:r>
              <a:rPr sz="850">
                <a:solidFill>
                  <a:srgbClr val="94A3B8"/>
                </a:solidFill>
              </a:rPr>
              <a:t>Synthetic ringtones &amp; citizen speech synthesis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Vite 8
</a:t>
            </a:r>
            <a:r>
              <a:rPr sz="850">
                <a:solidFill>
                  <a:srgbClr val="94A3B8"/>
                </a:solidFill>
              </a:rPr>
              <a:t>Sub-second client asset bundling
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126480" y="1325880"/>
            <a:ext cx="26517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36208" y="1417320"/>
            <a:ext cx="242316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34D399"/>
                </a:solidFill>
              </a:defRPr>
            </a:pPr>
            <a:r>
              <a:t>Backend, DB &amp; Messaging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FastAPI (Python 3.11)
</a:t>
            </a:r>
            <a:r>
              <a:rPr sz="850">
                <a:solidFill>
                  <a:srgbClr val="94A3B8"/>
                </a:solidFill>
              </a:rPr>
              <a:t>High-performance async ASGI core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WebSockets
</a:t>
            </a:r>
            <a:r>
              <a:rPr sz="850">
                <a:solidFill>
                  <a:srgbClr val="94A3B8"/>
                </a:solidFill>
              </a:rPr>
              <a:t>Bi-directional real-time audio streams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PostgreSQL 16
</a:t>
            </a:r>
            <a:r>
              <a:rPr sz="850">
                <a:solidFill>
                  <a:srgbClr val="94A3B8"/>
                </a:solidFill>
              </a:rPr>
              <a:t>Relational transaction escrow database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Pinecone Vector DB
</a:t>
            </a:r>
            <a:r>
              <a:rPr sz="850">
                <a:solidFill>
                  <a:srgbClr val="94A3B8"/>
                </a:solidFill>
              </a:rPr>
              <a:t>768-dim script semantic clustering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n8n Workflow Engine
</a:t>
            </a:r>
            <a:r>
              <a:rPr sz="850">
                <a:solidFill>
                  <a:srgbClr val="94A3B8"/>
                </a:solidFill>
              </a:rPr>
              <a:t>Automated WhatsApp &amp; SMS family dispatch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Docker &amp; Docker Compose
</a:t>
            </a:r>
            <a:r>
              <a:rPr sz="850">
                <a:solidFill>
                  <a:srgbClr val="94A3B8"/>
                </a:solidFill>
              </a:rPr>
              <a:t>Multi-container portable orchestration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Estimated Implementation Cost &amp; Unit Economics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Highly cost-effective serverless architecture yielding an astronomical ROI for partner banks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65760" y="1325880"/>
            <a:ext cx="502920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2920" y="1417320"/>
            <a:ext cx="475488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38BDF8"/>
                </a:solidFill>
              </a:defRPr>
            </a:pPr>
            <a:r>
              <a:t>Monthly Cost Breakdown (Per 10,000 Active Protected Users)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Google Cloud Run (Compute): </a:t>
            </a:r>
            <a:r>
              <a:rPr b="1" sz="950">
                <a:solidFill>
                  <a:srgbClr val="34D399"/>
                </a:solidFill>
              </a:rPr>
              <a:t>$15 - $25 / mo — </a:t>
            </a:r>
            <a:r>
              <a:rPr sz="850">
                <a:solidFill>
                  <a:srgbClr val="94A3B8"/>
                </a:solidFill>
              </a:rPr>
              <a:t>Serverless scaling to 0 when idle (2M free req/mo)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Google Gemini 3.8 Flash (AI): </a:t>
            </a:r>
            <a:r>
              <a:rPr b="1" sz="950">
                <a:solidFill>
                  <a:srgbClr val="34D399"/>
                </a:solidFill>
              </a:rPr>
              <a:t>$35 - $50 / mo — </a:t>
            </a:r>
            <a:r>
              <a:rPr sz="850">
                <a:solidFill>
                  <a:srgbClr val="94A3B8"/>
                </a:solidFill>
              </a:rPr>
              <a:t>Evaluates ~2,500 scam calls @ $0.0001 per chunk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Gemini Multimodal Vision API: </a:t>
            </a:r>
            <a:r>
              <a:rPr b="1" sz="950">
                <a:solidFill>
                  <a:srgbClr val="34D399"/>
                </a:solidFill>
              </a:rPr>
              <a:t>$15 - $20 / mo — </a:t>
            </a:r>
            <a:r>
              <a:rPr sz="850">
                <a:solidFill>
                  <a:srgbClr val="94A3B8"/>
                </a:solidFill>
              </a:rPr>
              <a:t>Scam Lens image checks (~5,000 verifications/mo)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Google BigQuery &amp; Pinecone: </a:t>
            </a:r>
            <a:r>
              <a:rPr b="1" sz="950">
                <a:solidFill>
                  <a:srgbClr val="34D399"/>
                </a:solidFill>
              </a:rPr>
              <a:t>$20 - $25 / mo — </a:t>
            </a:r>
            <a:r>
              <a:rPr sz="850">
                <a:solidFill>
                  <a:srgbClr val="94A3B8"/>
                </a:solidFill>
              </a:rPr>
              <a:t>Threat intelligence &amp; vector campaign clustering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WhatsApp / Twilio SMS Gateway: </a:t>
            </a:r>
            <a:r>
              <a:rPr b="1" sz="950">
                <a:solidFill>
                  <a:srgbClr val="34D399"/>
                </a:solidFill>
              </a:rPr>
              <a:t>$18 - $25 / mo — </a:t>
            </a:r>
            <a:r>
              <a:rPr sz="850">
                <a:solidFill>
                  <a:srgbClr val="94A3B8"/>
                </a:solidFill>
              </a:rPr>
              <a:t>Emergency guardian notifications @ $0.005/msg
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FFFFFF"/>
                </a:solidFill>
              </a:rPr>
              <a:t>• Total Estimated Monthly Cost: </a:t>
            </a:r>
            <a:r>
              <a:rPr b="1" sz="950">
                <a:solidFill>
                  <a:srgbClr val="34D399"/>
                </a:solidFill>
              </a:rPr>
              <a:t>~$103 - $145 / mo — </a:t>
            </a:r>
            <a:r>
              <a:rPr sz="850">
                <a:solidFill>
                  <a:srgbClr val="94A3B8"/>
                </a:solidFill>
              </a:rPr>
              <a:t>Entire system cost for 10,000 protected accounts
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577840" y="1325880"/>
            <a:ext cx="320040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715000" y="1417320"/>
            <a:ext cx="292608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4D399"/>
                </a:solidFill>
              </a:defRPr>
            </a:pPr>
            <a:r>
              <a:t>Commercial ROI &amp; Value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Cost Per User: </a:t>
            </a:r>
            <a:r>
              <a:rPr sz="1000">
                <a:solidFill>
                  <a:srgbClr val="CBD5E1"/>
                </a:solidFill>
              </a:rPr>
              <a:t>~$0.012 per user / month (approx. 3.5 PKR) — negligible overhead for retail banks.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Average Prevented Loss: </a:t>
            </a:r>
            <a:r>
              <a:rPr sz="1000">
                <a:solidFill>
                  <a:srgbClr val="CBD5E1"/>
                </a:solidFill>
              </a:rPr>
              <a:t>PKR 85,000 (~$300 USD) per prevented voice vishing incident.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Astronomical ROI: </a:t>
            </a:r>
            <a:r>
              <a:rPr sz="1000">
                <a:solidFill>
                  <a:srgbClr val="CBD5E1"/>
                </a:solidFill>
              </a:rPr>
              <a:t>&gt; 25,000% return on investment. Preventing just ONE fraud incident pays for the protection of over 25,000 bank accounts for an entire month.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34D399"/>
                </a:solidFill>
              </a:rPr>
              <a:t>• </a:t>
            </a:r>
            <a:r>
              <a:rPr b="1" sz="1000">
                <a:solidFill>
                  <a:srgbClr val="FFFFFF"/>
                </a:solidFill>
              </a:rPr>
              <a:t>Regulatory Shield: </a:t>
            </a:r>
            <a:r>
              <a:rPr sz="1000">
                <a:solidFill>
                  <a:srgbClr val="CBD5E1"/>
                </a:solidFill>
              </a:rPr>
              <a:t>Protects banks against SBP fraud refund liabilities &amp; reputation damage.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Snapshots of the Working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Fully functional multi-surface application running natively on Android mobile and Web PWA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65760" y="1325880"/>
            <a:ext cx="406908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2920" y="1417320"/>
            <a:ext cx="379476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1. Live Scam Call Simulator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Speech synthesis role-play (Uncle Tariq)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Live risk meter (0-100%)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Instant 'CUT THE CALL' siren alert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Urdu/English dialect toggles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526280" y="1325880"/>
            <a:ext cx="406908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663440" y="1417320"/>
            <a:ext cx="379476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4D399"/>
                </a:solidFill>
              </a:defRPr>
            </a:pPr>
            <a:r>
              <a:t>2. 15-Min Escrow Circuit-Breaker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15:00 safety escrow cooling-off timer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1-Tap 'Reverse &amp; Refund' button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Live Gmail &amp; SMS approval poller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100% customer balance restoration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65760" y="2971800"/>
            <a:ext cx="406908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02920" y="3063240"/>
            <a:ext cx="379476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FBBF24"/>
                </a:solidFill>
              </a:defRPr>
            </a:pPr>
            <a:r>
              <a:t>3. Scam Lens Forensic Vision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Multimodal Gemini vision OCR engine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5 one-click instant demo presets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Brand spoofing &amp; link extractor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Impossible calendar date (31/02) flag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26280" y="2971800"/>
            <a:ext cx="4069080" cy="15544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663440" y="3063240"/>
            <a:ext cx="3794760" cy="137160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C084FC"/>
                </a:solidFill>
              </a:defRPr>
            </a:pPr>
            <a:r>
              <a:t>4. Guardian Circle WhatsApp Hub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n8n automated webhook integration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WhatsApp alert simulation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Dual-guardian consensus checks</a:t>
            </a:r>
          </a:p>
          <a:p>
            <a:pPr>
              <a:spcAft>
                <a:spcPts val="200"/>
              </a:spcAft>
              <a:defRPr sz="950">
                <a:solidFill>
                  <a:srgbClr val="CBD5E1"/>
                </a:solidFill>
              </a:defRPr>
            </a:pPr>
            <a:r>
              <a:t>• Downloadable workflow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Prototype Performance &amp; Benchmarking Report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Rigorous empirical evaluation passing all 18 safety design rules with zero false positives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365760" y="1325880"/>
            <a:ext cx="196596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38912" y="1371600"/>
            <a:ext cx="1828800" cy="1188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"/>
              </a:spcAft>
              <a:defRPr b="1" sz="2000">
                <a:solidFill>
                  <a:srgbClr val="34D399"/>
                </a:solidFill>
              </a:defRPr>
            </a:pPr>
            <a:r>
              <a:t>18 / 18</a:t>
            </a:r>
          </a:p>
          <a:p>
            <a:pPr>
              <a:spcAft>
                <a:spcPts val="200"/>
              </a:spcAft>
              <a:defRPr b="1" sz="1000">
                <a:solidFill>
                  <a:srgbClr val="FFFFFF"/>
                </a:solidFill>
              </a:defRPr>
            </a:pPr>
            <a:r>
              <a:t>Fusion Design Rules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100% PASS rate across all bank safety requirements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468880" y="1325880"/>
            <a:ext cx="196596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542032" y="1371600"/>
            <a:ext cx="1828800" cy="1188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"/>
              </a:spcAft>
              <a:defRPr b="1" sz="2000">
                <a:solidFill>
                  <a:srgbClr val="38BDF8"/>
                </a:solidFill>
              </a:defRPr>
            </a:pPr>
            <a:r>
              <a:t>&lt; 1.4s</a:t>
            </a:r>
          </a:p>
          <a:p>
            <a:pPr>
              <a:spcAft>
                <a:spcPts val="200"/>
              </a:spcAft>
              <a:defRPr b="1" sz="1000">
                <a:solidFill>
                  <a:srgbClr val="FFFFFF"/>
                </a:solidFill>
              </a:defRPr>
            </a:pPr>
            <a:r>
              <a:t>Time-To-Detect (p50)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Real-time intervention before victim discloses credentials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572000" y="1325880"/>
            <a:ext cx="196596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645152" y="1371600"/>
            <a:ext cx="1828800" cy="1188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"/>
              </a:spcAft>
              <a:defRPr b="1" sz="2000">
                <a:solidFill>
                  <a:srgbClr val="C084FC"/>
                </a:solidFill>
              </a:defRPr>
            </a:pPr>
            <a:r>
              <a:t>0.0%</a:t>
            </a:r>
          </a:p>
          <a:p>
            <a:pPr>
              <a:spcAft>
                <a:spcPts val="200"/>
              </a:spcAft>
              <a:defRPr b="1" sz="1000">
                <a:solidFill>
                  <a:srgbClr val="FFFFFF"/>
                </a:solidFill>
              </a:defRPr>
            </a:pPr>
            <a:r>
              <a:t>False Alarms on Clean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Tested on 316 genuine bank, courier &amp; family calls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675120" y="1325880"/>
            <a:ext cx="196596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748272" y="1371600"/>
            <a:ext cx="1828800" cy="11887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"/>
              </a:spcAft>
              <a:defRPr b="1" sz="2000">
                <a:solidFill>
                  <a:srgbClr val="FBBF24"/>
                </a:solidFill>
              </a:defRPr>
            </a:pPr>
            <a:r>
              <a:t>99.0%</a:t>
            </a:r>
          </a:p>
          <a:p>
            <a:pPr>
              <a:spcAft>
                <a:spcPts val="200"/>
              </a:spcAft>
              <a:defRPr b="1" sz="1000">
                <a:solidFill>
                  <a:srgbClr val="FFFFFF"/>
                </a:solidFill>
              </a:defRPr>
            </a:pPr>
            <a:r>
              <a:t>Scam Lens Confidence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Precise visual forensics on forged SMS &amp; slips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2743200"/>
            <a:ext cx="8412480" cy="20574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02920" y="2834640"/>
            <a:ext cx="8138160" cy="1874519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400"/>
              </a:spcAft>
              <a:defRPr b="1" sz="1200">
                <a:solidFill>
                  <a:srgbClr val="38BDF8"/>
                </a:solidFill>
              </a:defRPr>
            </a:pPr>
            <a:r>
              <a:t>Key Verified Benchmarks from Empirical Evaluation Suite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8BDF8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Zero False-Alarm Hard Stop: </a:t>
            </a:r>
            <a:r>
              <a:rPr sz="950">
                <a:solidFill>
                  <a:srgbClr val="CBD5E1"/>
                </a:solidFill>
              </a:rPr>
              <a:t>A single signal (unknown caller only, app open only, or urgency word only) NEVER triggers a hard hold. Requires multi-signal correlation.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34D399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Hard-Stop Safety Trigger: </a:t>
            </a:r>
            <a:r>
              <a:rPr sz="950">
                <a:solidFill>
                  <a:srgbClr val="CBD5E1"/>
                </a:solidFill>
              </a:rPr>
              <a:t>Unknown caller + OTP demand + mobile banking in progress reliably triggers Tier 3 circuit-breaker (fused score 98-99%).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C084FC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Per-Language Fairness: </a:t>
            </a:r>
            <a:r>
              <a:rPr sz="950">
                <a:solidFill>
                  <a:srgbClr val="CBD5E1"/>
                </a:solidFill>
              </a:rPr>
              <a:t>Evaluated across Urdu, English, Punjabi, and Roman Urdu. Language recall gap is 0.0 points — no bias against regional dialects.</a:t>
            </a:r>
          </a:p>
          <a:p>
            <a:pPr>
              <a:spcAft>
                <a:spcPts val="0"/>
              </a:spcAft>
            </a:pPr>
            <a:r>
              <a:rPr b="1" sz="950">
                <a:solidFill>
                  <a:srgbClr val="FBBF24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Never-Fall-Quickly Smoothing: </a:t>
            </a:r>
            <a:r>
              <a:rPr sz="950">
                <a:solidFill>
                  <a:srgbClr val="CBD5E1"/>
                </a:solidFill>
              </a:rPr>
              <a:t>Risk score drops at a safe maximum rate (&lt;= 3 pts/step) to prevent scammers from resetting risk by temporarily speaking politely.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Additional Details &amp; Future Development Roadmap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Strategic vision for commercial banking deployment, telecom integration, and regulatory expansion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5760" y="1325880"/>
            <a:ext cx="19659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38912" y="1417320"/>
            <a:ext cx="182880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34D399"/>
                </a:solidFill>
              </a:defRPr>
            </a:pPr>
            <a:r>
              <a:t>Phase 1: Working Prototype</a:t>
            </a:r>
          </a:p>
          <a:p>
            <a:pPr>
              <a:spcAft>
                <a:spcPts val="600"/>
              </a:spcAft>
              <a:defRPr b="1" sz="850">
                <a:solidFill>
                  <a:srgbClr val="FFFFFF"/>
                </a:solidFill>
              </a:defRPr>
            </a:pPr>
            <a:r>
              <a:t>[COMPLETED • READY NOW]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4D399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Google Gemini live speech reasoning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4D399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Native Android APK (11.8 MB) with screening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4D399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15-Minute safety escrow circuit-breaker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4D399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Scam Lens visual OCR &amp; 18/18 fusion rules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468880" y="1325880"/>
            <a:ext cx="19659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542032" y="1417320"/>
            <a:ext cx="182880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Phase 2: Telecom Carrier Link</a:t>
            </a:r>
          </a:p>
          <a:p>
            <a:pPr>
              <a:spcAft>
                <a:spcPts val="600"/>
              </a:spcAft>
              <a:defRPr b="1" sz="850">
                <a:solidFill>
                  <a:srgbClr val="FFFFFF"/>
                </a:solidFill>
              </a:defRPr>
            </a:pPr>
            <a:r>
              <a:t>[NEXT 60 DAYS]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Direct SS7 &amp; IMS carrier network signaling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Network-level audio interception before phone rings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Protects non-smartphones &amp; 2G feature phones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38BDF8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Carrier partnership with Jazz, Telenor &amp; Zong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572000" y="1325880"/>
            <a:ext cx="19659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645152" y="1417320"/>
            <a:ext cx="182880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C084FC"/>
                </a:solidFill>
              </a:defRPr>
            </a:pPr>
            <a:r>
              <a:t>Phase 3: Core Banking SDK</a:t>
            </a:r>
          </a:p>
          <a:p>
            <a:pPr>
              <a:spcAft>
                <a:spcPts val="600"/>
              </a:spcAft>
              <a:defRPr b="1" sz="850">
                <a:solidFill>
                  <a:srgbClr val="FFFFFF"/>
                </a:solidFill>
              </a:defRPr>
            </a:pPr>
            <a:r>
              <a:t>[Q3 2026]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C084FC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Embeddable lightweight mobile banking SDK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C084FC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Native integration into HBL, Meezan, JazzCash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C084FC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Real-time fraud score API for Raast &amp; 1LINK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C084FC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Instant transaction holds directly at payment rail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675120" y="1325880"/>
            <a:ext cx="1965960" cy="34747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748272" y="1417320"/>
            <a:ext cx="1828800" cy="32918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FBBF24"/>
                </a:solidFill>
              </a:defRPr>
            </a:pPr>
            <a:r>
              <a:t>Phase 4: Regulatory Bridge</a:t>
            </a:r>
          </a:p>
          <a:p>
            <a:pPr>
              <a:spcAft>
                <a:spcPts val="600"/>
              </a:spcAft>
              <a:defRPr b="1" sz="850">
                <a:solidFill>
                  <a:srgbClr val="FFFFFF"/>
                </a:solidFill>
              </a:defRPr>
            </a:pPr>
            <a:r>
              <a:t>[Q4 2026]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F24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Direct API to FIA Cybercrime Wing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F24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State Bank of Pakistan FMU syndicate telemetry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F24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Automated mule account freezing network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FBBF24"/>
                </a:solidFill>
              </a:rPr>
              <a:t>• </a:t>
            </a:r>
            <a:r>
              <a:rPr sz="850">
                <a:solidFill>
                  <a:srgbClr val="CBD5E1"/>
                </a:solidFill>
              </a:rPr>
              <a:t>Cross-border threat radar with Interpol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FFFFFF"/>
                </a:solidFill>
                <a:latin typeface="Google Sans"/>
              </a:defRPr>
            </a:pPr>
            <a:r>
              <a:t>Provide Links to Your Deliverables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>
              <a:defRPr sz="1100">
                <a:solidFill>
                  <a:srgbClr val="38BDF8"/>
                </a:solidFill>
                <a:latin typeface="Google Sans"/>
              </a:defRPr>
            </a:pPr>
            <a:r>
              <a:t>Official links for evaluation, live testing, source code inspection, and mobile APK installation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1325880"/>
            <a:ext cx="4069080" cy="1143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02920" y="1417320"/>
            <a:ext cx="3794760" cy="9601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38BDF8"/>
                </a:solidFill>
              </a:defRPr>
            </a:pPr>
            <a:r>
              <a:t>GitHub Public Repository</a:t>
            </a:r>
          </a:p>
          <a:p>
            <a:pPr>
              <a:spcAft>
                <a:spcPts val="200"/>
              </a:spcAft>
              <a:defRPr b="1" sz="950">
                <a:solidFill>
                  <a:srgbClr val="FFFFFF"/>
                </a:solidFill>
              </a:defRPr>
            </a:pPr>
            <a:r>
              <a:t>https://github.com/talha963/ScamSheild.git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Complete open-source codebase, Docker Compose orchestration, Android Kotlin code, test datasets, and Google Cloud Build scripts.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526280" y="1325880"/>
            <a:ext cx="4069080" cy="1143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663440" y="1417320"/>
            <a:ext cx="3794760" cy="9601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34D399"/>
                </a:solidFill>
              </a:defRPr>
            </a:pPr>
            <a:r>
              <a:t>Live Working Prototype</a:t>
            </a:r>
          </a:p>
          <a:p>
            <a:pPr>
              <a:spcAft>
                <a:spcPts val="200"/>
              </a:spcAft>
              <a:defRPr b="1" sz="950">
                <a:solidFill>
                  <a:srgbClr val="FFFFFF"/>
                </a:solidFill>
              </a:defRPr>
            </a:pPr>
            <a:r>
              <a:t>https://flatbed-carve-imprint.ngrok-free.dev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Fully functional interactive web application with all 9 modules active (Scam Call Demo, Mock Bank Escrow, Scam Lens, Gym, Radar, Evidence Pack).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65760" y="2606040"/>
            <a:ext cx="4069080" cy="1143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2920" y="2697480"/>
            <a:ext cx="3794760" cy="9601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FBBF24"/>
                </a:solidFill>
              </a:defRPr>
            </a:pPr>
            <a:r>
              <a:t>Android Mobile APK (11.8 MB)</a:t>
            </a:r>
          </a:p>
          <a:p>
            <a:pPr>
              <a:spcAft>
                <a:spcPts val="200"/>
              </a:spcAft>
              <a:defRPr b="1" sz="950">
                <a:solidFill>
                  <a:srgbClr val="FFFFFF"/>
                </a:solidFill>
              </a:defRPr>
            </a:pPr>
            <a:r>
              <a:t>https://flatbed-carve-imprint.ngrok-free.dev/scamshield.apk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Direct standalone Android binary package with native file picker, background call screening service, and offline bundled React PWA.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526280" y="2606040"/>
            <a:ext cx="4069080" cy="11430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663440" y="2697480"/>
            <a:ext cx="3794760" cy="9601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C084FC"/>
                </a:solidFill>
              </a:defRPr>
            </a:pPr>
            <a:r>
              <a:t>Demo Video &amp; Presentation (3 Min)</a:t>
            </a:r>
          </a:p>
          <a:p>
            <a:pPr>
              <a:spcAft>
                <a:spcPts val="200"/>
              </a:spcAft>
              <a:defRPr b="1" sz="950">
                <a:solidFill>
                  <a:srgbClr val="FFFFFF"/>
                </a:solidFill>
              </a:defRPr>
            </a:pPr>
            <a:r>
              <a:t>https://flatbed-carve-imprint.ngrok-free.dev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Live interactive demonstration walk-through showcasing real-time Uncle Tariq scam defense, 15-minute escrow reversal, and Scam Lens OCR.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5760" y="3886200"/>
            <a:ext cx="8412480" cy="91440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283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02920" y="3977639"/>
            <a:ext cx="8138160" cy="73152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200"/>
              </a:spcAft>
              <a:defRPr b="1" sz="1100">
                <a:solidFill>
                  <a:srgbClr val="FFFFFF"/>
                </a:solidFill>
              </a:defRPr>
            </a:pPr>
            <a:r>
              <a:t>System Operational Status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34D399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Backend Health Endpoint: </a:t>
            </a:r>
            <a:r>
              <a:rPr sz="950">
                <a:solidFill>
                  <a:srgbClr val="CBD5E1"/>
                </a:solidFill>
              </a:rPr>
              <a:t>https://flatbed-carve-imprint.ngrok-free.dev/health — Status: Operational with Gemini 3.8 Flash &amp; Gemini Pro.</a:t>
            </a:r>
          </a:p>
          <a:p>
            <a:pPr>
              <a:spcAft>
                <a:spcPts val="0"/>
              </a:spcAft>
            </a:pPr>
            <a:r>
              <a:rPr b="1" sz="950">
                <a:solidFill>
                  <a:srgbClr val="38BDF8"/>
                </a:solidFill>
              </a:rPr>
              <a:t>• </a:t>
            </a:r>
            <a:r>
              <a:rPr b="1" sz="950">
                <a:solidFill>
                  <a:srgbClr val="FFFFFF"/>
                </a:solidFill>
              </a:rPr>
              <a:t>Local Workspace Path: </a:t>
            </a:r>
            <a:r>
              <a:rPr sz="950">
                <a:solidFill>
                  <a:srgbClr val="CBD5E1"/>
                </a:solidFill>
              </a:rPr>
              <a:t>d:\AI Builder\scamshield.apk (11,818,272 bytes) • Ready for evaluation.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4572000" y="2926080"/>
            <a:ext cx="4206240" cy="1645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754880" y="3017520"/>
            <a:ext cx="3840480" cy="1463040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300"/>
              </a:spcAft>
              <a:defRPr b="1" sz="1500">
                <a:solidFill>
                  <a:srgbClr val="38BDF8"/>
                </a:solidFill>
              </a:defRPr>
            </a:pPr>
            <a:r>
              <a:t>Team CogniFlow</a:t>
            </a:r>
          </a:p>
          <a:p>
            <a:pPr>
              <a:spcAft>
                <a:spcPts val="300"/>
              </a:spcAft>
              <a:defRPr b="1" sz="1100">
                <a:solidFill>
                  <a:srgbClr val="FFFFFF"/>
                </a:solidFill>
              </a:defRPr>
            </a:pPr>
            <a:r>
              <a:t>Team Leader: Talha Habib (tk706051@gmail.com)</a:t>
            </a:r>
          </a:p>
          <a:p>
            <a:pPr>
              <a:spcAft>
                <a:spcPts val="300"/>
              </a:spcAft>
              <a:defRPr sz="1050">
                <a:solidFill>
                  <a:srgbClr val="CBD5E1"/>
                </a:solidFill>
              </a:defRPr>
            </a:pPr>
            <a:r>
              <a:t>Project: ScamShield Live — Autonomous Voice Fraud Defense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AI Builder Cup 2026 | Banking, Financial Services &amp; Insurance Track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